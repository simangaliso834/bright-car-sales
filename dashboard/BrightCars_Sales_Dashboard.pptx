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F5A524">
                <a:alpha val="4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Jan '14</c:v>
                  </c:pt>
                  <c:pt idx="1">
                    <c:v>Feb '14</c:v>
                  </c:pt>
                  <c:pt idx="2">
                    <c:v>Dec '14</c:v>
                  </c:pt>
                  <c:pt idx="3">
                    <c:v>Jan '15</c:v>
                  </c:pt>
                  <c:pt idx="4">
                    <c:v>Feb '15</c:v>
                  </c:pt>
                  <c:pt idx="5">
                    <c:v>Mar '15</c:v>
                  </c:pt>
                  <c:pt idx="6">
                    <c:v>Apr '15</c:v>
                  </c:pt>
                  <c:pt idx="7">
                    <c:v>May '15</c:v>
                  </c:pt>
                  <c:pt idx="8">
                    <c:v>Jun '15</c:v>
                  </c:pt>
                  <c:pt idx="9">
                    <c:v>Jul '15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3204525</c:v>
                </c:pt>
                <c:pt idx="1">
                  <c:v>10500</c:v>
                </c:pt>
                <c:pt idx="2">
                  <c:v>604434205</c:v>
                </c:pt>
                <c:pt idx="3">
                  <c:v>1868476267</c:v>
                </c:pt>
                <c:pt idx="4">
                  <c:v>2218852327</c:v>
                </c:pt>
                <c:pt idx="5">
                  <c:v>622105273</c:v>
                </c:pt>
                <c:pt idx="6">
                  <c:v>14799755</c:v>
                </c:pt>
                <c:pt idx="7">
                  <c:v>752178456</c:v>
                </c:pt>
                <c:pt idx="8">
                  <c:v>1499881215</c:v>
                </c:pt>
                <c:pt idx="9">
                  <c:v>22069764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8F9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D36"/>
              </a:solidFill>
              <a:prstDash val="solid"/>
              <a:round/>
            </a:ln>
          </c:spPr>
        </c:majorGridlines>
        <c:numFmt formatCode="$#,##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8F9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D24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F5A5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Ford</c:v>
                  </c:pt>
                  <c:pt idx="1">
                    <c:v>Chevrolet</c:v>
                  </c:pt>
                  <c:pt idx="2">
                    <c:v>Nissan</c:v>
                  </c:pt>
                  <c:pt idx="3">
                    <c:v>Toyota</c:v>
                  </c:pt>
                  <c:pt idx="4">
                    <c:v>BMW</c:v>
                  </c:pt>
                  <c:pt idx="5">
                    <c:v>Mercedes-Benz</c:v>
                  </c:pt>
                  <c:pt idx="6">
                    <c:v>Dodge</c:v>
                  </c:pt>
                  <c:pt idx="7">
                    <c:v>Infiniti</c:v>
                  </c:pt>
                  <c:pt idx="8">
                    <c:v>Honda</c:v>
                  </c:pt>
                  <c:pt idx="9">
                    <c:v>Lexus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1360304557</c:v>
                </c:pt>
                <c:pt idx="1">
                  <c:v>721003399</c:v>
                </c:pt>
                <c:pt idx="2">
                  <c:v>633272955</c:v>
                </c:pt>
                <c:pt idx="3">
                  <c:v>488392710</c:v>
                </c:pt>
                <c:pt idx="4">
                  <c:v>444254638</c:v>
                </c:pt>
                <c:pt idx="5">
                  <c:v>370083906</c:v>
                </c:pt>
                <c:pt idx="6">
                  <c:v>344138494</c:v>
                </c:pt>
                <c:pt idx="7">
                  <c:v>312489190</c:v>
                </c:pt>
                <c:pt idx="8">
                  <c:v>297645409</c:v>
                </c:pt>
                <c:pt idx="9">
                  <c:v>240615055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5F5F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2D36"/>
              </a:solidFill>
              <a:prstDash val="solid"/>
              <a:round/>
            </a:ln>
          </c:spPr>
        </c:majorGridlines>
        <c:numFmt formatCode="$#,##0,,&quot;M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8F9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D24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6EE7B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FL</c:v>
                  </c:pt>
                  <c:pt idx="1">
                    <c:v>CA</c:v>
                  </c:pt>
                  <c:pt idx="2">
                    <c:v>PA</c:v>
                  </c:pt>
                  <c:pt idx="3">
                    <c:v>TX</c:v>
                  </c:pt>
                  <c:pt idx="4">
                    <c:v>GA</c:v>
                  </c:pt>
                  <c:pt idx="5">
                    <c:v>NJ</c:v>
                  </c:pt>
                  <c:pt idx="6">
                    <c:v>TN</c:v>
                  </c:pt>
                  <c:pt idx="7">
                    <c:v>IL</c:v>
                  </c:pt>
                  <c:pt idx="8">
                    <c:v>OH</c:v>
                  </c:pt>
                  <c:pt idx="9">
                    <c:v>MO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82945</c:v>
                </c:pt>
                <c:pt idx="1">
                  <c:v>73148</c:v>
                </c:pt>
                <c:pt idx="2">
                  <c:v>53907</c:v>
                </c:pt>
                <c:pt idx="3">
                  <c:v>45913</c:v>
                </c:pt>
                <c:pt idx="4">
                  <c:v>34750</c:v>
                </c:pt>
                <c:pt idx="5">
                  <c:v>27784</c:v>
                </c:pt>
                <c:pt idx="6">
                  <c:v>20895</c:v>
                </c:pt>
                <c:pt idx="7">
                  <c:v>23478</c:v>
                </c:pt>
                <c:pt idx="8">
                  <c:v>21575</c:v>
                </c:pt>
                <c:pt idx="9">
                  <c:v>16013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5F5F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D36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8F9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D24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F5A5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A52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C85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EE7B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0A5F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472B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B923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Sedan</c:v>
                  </c:pt>
                  <c:pt idx="1">
                    <c:v>SUV</c:v>
                  </c:pt>
                  <c:pt idx="2">
                    <c:v>sedan</c:v>
                  </c:pt>
                  <c:pt idx="3">
                    <c:v>suv</c:v>
                  </c:pt>
                  <c:pt idx="4">
                    <c:v>Hatchback</c:v>
                  </c:pt>
                  <c:pt idx="5">
                    <c:v>Minivan</c:v>
                  </c:pt>
                  <c:pt idx="6">
                    <c:v>Coupe</c:v>
                  </c:pt>
                  <c:pt idx="7">
                    <c:v>Wagon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199429</c:v>
                </c:pt>
                <c:pt idx="1">
                  <c:v>119292</c:v>
                </c:pt>
                <c:pt idx="2">
                  <c:v>41903</c:v>
                </c:pt>
                <c:pt idx="3">
                  <c:v>24552</c:v>
                </c:pt>
                <c:pt idx="4">
                  <c:v>21380</c:v>
                </c:pt>
                <c:pt idx="5">
                  <c:v>21363</c:v>
                </c:pt>
                <c:pt idx="6">
                  <c:v>14602</c:v>
                </c:pt>
                <c:pt idx="7">
                  <c:v>13629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900" b="0" i="0" u="none" strike="noStrike">
                <a:solidFill>
                  <a:srgbClr val="F5F5F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D36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8F9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D24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Transmission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A524"/>
              </a:solidFill>
              <a:effectLst/>
            </c:spPr>
          </c:dPt>
          <c:dPt>
            <c:idx val="1"/>
            <c:bubble3D val="0"/>
            <c:spPr>
              <a:solidFill>
                <a:srgbClr val="6EE7B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F1115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F1115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automatic</c:v>
                </c:pt>
                <c:pt idx="1">
                  <c:v>manual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475904</c:v>
                </c:pt>
                <c:pt idx="1">
                  <c:v>17544</c:v>
                </c:pt>
              </c:numCache>
            </c:numRef>
          </c:val>
        </c:ser>
        <c:firstSliceAng val="0"/>
        <c:holeSize val="55"/>
      </c:doughnutChart>
      <c:spPr>
        <a:solidFill>
          <a:srgbClr val="1A1D24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8B8F9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217920"/>
            <a:ext cx="12188952" cy="73152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INTELLIGENCE  ·  2014–2015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</a:t>
            </a:r>
            <a:pPr indent="0" marL="0">
              <a:buNone/>
            </a:pPr>
            <a:r>
              <a:rPr lang="en-US" sz="72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B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insights from half a million sales across the US.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558,799 units  ·  $7.61B revenue  ·  97 brands  ·  38 states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1A1D24"/>
          </a:solidFill>
          <a:ln w="1905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$7.61B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sales value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19272" y="155448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1A1D24"/>
          </a:solidFill>
          <a:ln w="9525">
            <a:solidFill>
              <a:srgbClr val="2A2D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2152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VEHICLES SOLD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02152" y="2057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558,799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02152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states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81344" y="155448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1A1D24"/>
          </a:solidFill>
          <a:ln w="9525">
            <a:solidFill>
              <a:srgbClr val="2A2D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4224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 PRICE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64224" y="2057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$14K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64224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vehicle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43416" y="155448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1A1D24"/>
          </a:solidFill>
          <a:ln w="9525">
            <a:solidFill>
              <a:srgbClr val="2A2D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26296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BRANDS · STATES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226296" y="2057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 · 38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226296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coverage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11247120" cy="2377440"/>
          </a:xfrm>
          <a:prstGeom prst="roundRect">
            <a:avLst>
              <a:gd name="adj" fmla="val 3846"/>
            </a:avLst>
          </a:prstGeom>
          <a:solidFill>
            <a:srgbClr val="1A1D24"/>
          </a:solidFill>
          <a:ln w="9525">
            <a:solidFill>
              <a:srgbClr val="2A2D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977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figures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438912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leads brand revenue at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$1.36B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93,553 units sold.
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is the top sales region with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82,945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units sold.
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transaction value of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$14K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all manufacturers.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BrightCars Analytics  ·  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performance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11247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53212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1A1D24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55321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month: February 2015 — $2.22B from 163,052 units.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BrightCars Analytics  ·  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brands &amp; states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</a:rPr>
              <a:t>Top 10 brands by revenue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37360"/>
          <a:ext cx="55778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21792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</a:rPr>
              <a:t>Top 10 states by volume</a:t>
            </a:r>
            <a:endParaRPr lang="en-US" sz="14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17920" y="1737360"/>
          <a:ext cx="54864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BrightCars Analytics  ·  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MIX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styles &amp; transmission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</a:rPr>
              <a:t>Top 8 body styles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37360"/>
          <a:ext cx="73152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95528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</a:rPr>
              <a:t>Transmission mix</a:t>
            </a:r>
            <a:endParaRPr lang="en-US" sz="14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7955280" y="1737360"/>
          <a:ext cx="37490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BrightCars Analytics  ·  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LEADERBOARD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12 manufacturers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840480"/>
                <a:gridCol w="2194560"/>
                <a:gridCol w="2377440"/>
                <a:gridCol w="20116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BRAND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SALES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REVENUE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AVG PRICE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93,553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5A5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$1.36B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$15K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Chevrolet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60,197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5A5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$721.0M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$12K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Nissan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53,946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5A5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$633.3M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$12K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Toyota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39,871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5A5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$488.4M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$12K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20,719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5A5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$444.3M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$21K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Mercedes-Benz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17,141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5A5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$370.1M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$22K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30,708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5A5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$344.1M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$11K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Infiniti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15,305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5A5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$312.5M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$20K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27,206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5A5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$297.6M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$11K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Lexus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11,861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5A5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$240.6M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$20K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Hyundai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21,811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5A5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$240.2M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$11K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15,372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5A5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$230.6M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B8F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$15K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BrightCars Analytics  ·  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BrightCars Sales Intelligence</dc:title>
  <dc:subject>PptxGenJS Presentation</dc:subject>
  <dc:creator>PptxGenJS</dc:creator>
  <cp:lastModifiedBy>PptxGenJS</cp:lastModifiedBy>
  <cp:revision>1</cp:revision>
  <dcterms:created xsi:type="dcterms:W3CDTF">2026-04-29T17:23:36Z</dcterms:created>
  <dcterms:modified xsi:type="dcterms:W3CDTF">2026-04-29T17:23:36Z</dcterms:modified>
</cp:coreProperties>
</file>