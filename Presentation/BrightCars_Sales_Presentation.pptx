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5A524">
                <a:alpha val="40000"/>
              </a:srgbClr>
            </a:solidFill>
            <a:effectLst/>
          </c:spPr>
          <c:cat>
            <c:strRef>
              <c:f>Sheet1!$A$2:$A$11</c:f>
              <c:strCache>
                <c:ptCount val="10"/>
                <c:pt idx="0">
                  <c:v>Jan '14</c:v>
                </c:pt>
                <c:pt idx="1">
                  <c:v>Feb '14</c:v>
                </c:pt>
                <c:pt idx="2">
                  <c:v>Dec '14</c:v>
                </c:pt>
                <c:pt idx="3">
                  <c:v>Jan '15</c:v>
                </c:pt>
                <c:pt idx="4">
                  <c:v>Feb '15</c:v>
                </c:pt>
                <c:pt idx="5">
                  <c:v>Mar '15</c:v>
                </c:pt>
                <c:pt idx="6">
                  <c:v>Apr '15</c:v>
                </c:pt>
                <c:pt idx="7">
                  <c:v>May '15</c:v>
                </c:pt>
                <c:pt idx="8">
                  <c:v>Jun '15</c:v>
                </c:pt>
                <c:pt idx="9">
                  <c:v>Jul '15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3204525</c:v>
                </c:pt>
                <c:pt idx="1">
                  <c:v>10500</c:v>
                </c:pt>
                <c:pt idx="2">
                  <c:v>604434205</c:v>
                </c:pt>
                <c:pt idx="3">
                  <c:v>1868476267</c:v>
                </c:pt>
                <c:pt idx="4">
                  <c:v>2218852327</c:v>
                </c:pt>
                <c:pt idx="5">
                  <c:v>622105273</c:v>
                </c:pt>
                <c:pt idx="6">
                  <c:v>14799755</c:v>
                </c:pt>
                <c:pt idx="7">
                  <c:v>752178456</c:v>
                </c:pt>
                <c:pt idx="8">
                  <c:v>1499881215</c:v>
                </c:pt>
                <c:pt idx="9">
                  <c:v>22069764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08-624A-8FA8-14B68E8B0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F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D36"/>
              </a:solidFill>
              <a:prstDash val="solid"/>
              <a:round/>
            </a:ln>
          </c:spPr>
        </c:majorGridlines>
        <c:numFmt formatCode="\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4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5A524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Ford</c:v>
                </c:pt>
                <c:pt idx="1">
                  <c:v>Chevrolet</c:v>
                </c:pt>
                <c:pt idx="2">
                  <c:v>Nissan</c:v>
                </c:pt>
                <c:pt idx="3">
                  <c:v>Toyota</c:v>
                </c:pt>
                <c:pt idx="4">
                  <c:v>BMW</c:v>
                </c:pt>
                <c:pt idx="5">
                  <c:v>Mercedes-Benz</c:v>
                </c:pt>
                <c:pt idx="6">
                  <c:v>Dodge</c:v>
                </c:pt>
                <c:pt idx="7">
                  <c:v>Infiniti</c:v>
                </c:pt>
                <c:pt idx="8">
                  <c:v>Honda</c:v>
                </c:pt>
                <c:pt idx="9">
                  <c:v>Lexus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1360304557</c:v>
                </c:pt>
                <c:pt idx="1">
                  <c:v>721003399</c:v>
                </c:pt>
                <c:pt idx="2">
                  <c:v>633272955</c:v>
                </c:pt>
                <c:pt idx="3">
                  <c:v>488392710</c:v>
                </c:pt>
                <c:pt idx="4">
                  <c:v>444254638</c:v>
                </c:pt>
                <c:pt idx="5">
                  <c:v>370083906</c:v>
                </c:pt>
                <c:pt idx="6">
                  <c:v>344138494</c:v>
                </c:pt>
                <c:pt idx="7">
                  <c:v>312489190</c:v>
                </c:pt>
                <c:pt idx="8">
                  <c:v>297645409</c:v>
                </c:pt>
                <c:pt idx="9">
                  <c:v>240615055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B-914E-AF5E-A782AFAABE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5F5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D36"/>
              </a:solidFill>
              <a:prstDash val="solid"/>
              <a:round/>
            </a:ln>
          </c:spPr>
        </c:majorGridlines>
        <c:numFmt formatCode="\$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8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4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E7B7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FL</c:v>
                </c:pt>
                <c:pt idx="1">
                  <c:v>CA</c:v>
                </c:pt>
                <c:pt idx="2">
                  <c:v>PA</c:v>
                </c:pt>
                <c:pt idx="3">
                  <c:v>TX</c:v>
                </c:pt>
                <c:pt idx="4">
                  <c:v>GA</c:v>
                </c:pt>
                <c:pt idx="5">
                  <c:v>NJ</c:v>
                </c:pt>
                <c:pt idx="6">
                  <c:v>TN</c:v>
                </c:pt>
                <c:pt idx="7">
                  <c:v>IL</c:v>
                </c:pt>
                <c:pt idx="8">
                  <c:v>OH</c:v>
                </c:pt>
                <c:pt idx="9">
                  <c:v>MO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82945</c:v>
                </c:pt>
                <c:pt idx="1">
                  <c:v>73148</c:v>
                </c:pt>
                <c:pt idx="2">
                  <c:v>53907</c:v>
                </c:pt>
                <c:pt idx="3">
                  <c:v>45913</c:v>
                </c:pt>
                <c:pt idx="4">
                  <c:v>34750</c:v>
                </c:pt>
                <c:pt idx="5">
                  <c:v>27784</c:v>
                </c:pt>
                <c:pt idx="6">
                  <c:v>20895</c:v>
                </c:pt>
                <c:pt idx="7">
                  <c:v>23478</c:v>
                </c:pt>
                <c:pt idx="8">
                  <c:v>21575</c:v>
                </c:pt>
                <c:pt idx="9">
                  <c:v>16013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2B-454B-9DA8-54ADF6B45B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5F5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D3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8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4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5A52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5BD-3E4C-9152-282804DEE655}"/>
              </c:ext>
            </c:extLst>
          </c:dPt>
          <c:dPt>
            <c:idx val="1"/>
            <c:invertIfNegative val="0"/>
            <c:bubble3D val="0"/>
            <c:spPr>
              <a:solidFill>
                <a:srgbClr val="FFC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BD-3E4C-9152-282804DEE655}"/>
              </c:ext>
            </c:extLst>
          </c:dPt>
          <c:dPt>
            <c:idx val="2"/>
            <c:invertIfNegative val="0"/>
            <c:bubble3D val="0"/>
            <c:spPr>
              <a:solidFill>
                <a:srgbClr val="6EE7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BD-3E4C-9152-282804DEE655}"/>
              </c:ext>
            </c:extLst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BD-3E4C-9152-282804DEE655}"/>
              </c:ext>
            </c:extLst>
          </c:dPt>
          <c:dPt>
            <c:idx val="4"/>
            <c:invertIfNegative val="0"/>
            <c:bubble3D val="0"/>
            <c:spPr>
              <a:solidFill>
                <a:srgbClr val="F472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BD-3E4C-9152-282804DEE655}"/>
              </c:ext>
            </c:extLst>
          </c:dPt>
          <c:dPt>
            <c:idx val="5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BD-3E4C-9152-282804DEE655}"/>
              </c:ext>
            </c:extLst>
          </c:dPt>
          <c:dPt>
            <c:idx val="6"/>
            <c:invertIfNegative val="0"/>
            <c:bubble3D val="0"/>
            <c:spPr>
              <a:solidFill>
                <a:srgbClr val="FB92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5BD-3E4C-9152-282804DEE655}"/>
              </c:ext>
            </c:extLst>
          </c:dPt>
          <c:dPt>
            <c:idx val="7"/>
            <c:invertIfNegative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5BD-3E4C-9152-282804DEE655}"/>
              </c:ext>
            </c:extLst>
          </c:dPt>
          <c:cat>
            <c:strRef>
              <c:f>Sheet1!$A$2:$A$9</c:f>
              <c:strCache>
                <c:ptCount val="8"/>
                <c:pt idx="0">
                  <c:v>Sedan</c:v>
                </c:pt>
                <c:pt idx="1">
                  <c:v>SUV</c:v>
                </c:pt>
                <c:pt idx="2">
                  <c:v>sedan</c:v>
                </c:pt>
                <c:pt idx="3">
                  <c:v>suv</c:v>
                </c:pt>
                <c:pt idx="4">
                  <c:v>Hatchback</c:v>
                </c:pt>
                <c:pt idx="5">
                  <c:v>Minivan</c:v>
                </c:pt>
                <c:pt idx="6">
                  <c:v>Coupe</c:v>
                </c:pt>
                <c:pt idx="7">
                  <c:v>Wagon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199429</c:v>
                </c:pt>
                <c:pt idx="1">
                  <c:v>119292</c:v>
                </c:pt>
                <c:pt idx="2">
                  <c:v>41903</c:v>
                </c:pt>
                <c:pt idx="3">
                  <c:v>24552</c:v>
                </c:pt>
                <c:pt idx="4">
                  <c:v>21380</c:v>
                </c:pt>
                <c:pt idx="5">
                  <c:v>21363</c:v>
                </c:pt>
                <c:pt idx="6">
                  <c:v>14602</c:v>
                </c:pt>
                <c:pt idx="7">
                  <c:v>13629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5BD-3E4C-9152-282804DEE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900" b="0" i="0" u="none" strike="noStrike">
                <a:solidFill>
                  <a:srgbClr val="F5F5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D3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8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4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Transmission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5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9AF-DE4F-B0C5-E124B9526C68}"/>
              </c:ext>
            </c:extLst>
          </c:dPt>
          <c:dPt>
            <c:idx val="1"/>
            <c:bubble3D val="0"/>
            <c:spPr>
              <a:solidFill>
                <a:srgbClr val="6EE7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AF-DE4F-B0C5-E124B9526C6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F1115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9AF-DE4F-B0C5-E124B9526C6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F1115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9AF-DE4F-B0C5-E124B9526C6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automatic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475904</c:v>
                </c:pt>
                <c:pt idx="1">
                  <c:v>17544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AF-DE4F-B0C5-E124B9526C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1A1D2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B8F9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6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INTELLIGENCE  ·  2014–2015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</a:t>
            </a:r>
            <a:r>
              <a:rPr lang="en-US" sz="7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insights from half a million sales across the US.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558,799 units  ·  $7.61B revenue  ·  97 brands  ·  38 states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A1D24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$7.61B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 value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554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VEHICLES SOLD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02152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558,799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states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554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PRICE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64224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$14K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vehicle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43416" y="1554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26296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BRANDS · STATES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26296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· 38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coverage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figures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38912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leads brand revenue at </a:t>
            </a: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$1.36B</a:t>
            </a: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93,553 units sold.
</a:t>
            </a: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is the top sales region with </a:t>
            </a: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82,945</a:t>
            </a: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units sold.
</a:t>
            </a: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 value of </a:t>
            </a: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$14K</a:t>
            </a: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all manufacturers.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BrightCars Analytics  ·  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performance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112471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A1D2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month: February 2015 — $2.22B from 163,052 units.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BrightCars Analytics  ·  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brands &amp; states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</a:rPr>
              <a:t>Top 10 brands by revenue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</a:rPr>
              <a:t>Top 10 states by volume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217920" y="173736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BrightCars Analytics  ·  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MIX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styles &amp; transmission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</a:rPr>
              <a:t>Top 8 body styles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95528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</a:rPr>
              <a:t>Transmission mix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7955280" y="1737360"/>
          <a:ext cx="37490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BrightCars Analytics  ·  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DATA TELLS 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819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CONCENTRATION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4963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top 5 brands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alone drives 17.9% of revenue. Brand portfolio is highly concentrated — opportunity and risk.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5819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GEOGRAPHY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0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480560" y="24963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sales in just 3 states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8346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FL, CA and PA dominate volume. 35 other states represent the remaining 62% — fragmented long tail.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819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SEASONALITY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75320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147×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275320" y="24963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peak and trough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75320" y="28346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2015 hit $2.22B; April 2015 collapsed to $15M. Severe demand volatility likely driven by inventory cycles.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50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MIX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4343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5800" y="49651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units are Sedans + SUVs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3035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body styles dominate. Hatchback, Minivan and Coupe trail far behind in volume.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38862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4050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 TIER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0" y="4343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$21K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480560" y="49651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for BMW, Lexus, Mercedes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53035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brands deliver 55% higher ASP than the fleet average ($14K) — strong margin pool.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4050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TRANSMISSION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75320" y="4343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8275320" y="49651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buyers choose automatic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75320" y="53035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is a 4% niche. Inventory weighting and marketing should reflect this preference.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BrightCars Analytics  ·  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STRATEGIC PLAYBOOK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5361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&amp; extend top-brand leadership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08483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Ford, Chevrolet and Nissan dealer incentives. They generate 40%+ of revenue — protect the core before chasing the long tail.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25880" y="2633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+8% YoY revenue from top-3 brands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371600"/>
            <a:ext cx="73152" cy="155448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40880" y="15361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the secondary-state opportunity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208483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states are saturated. Pilot regional marketing in NJ, GA, TN — high-growth markets with lower competitive intensity.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0" y="2633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+15% volume in tier-2 states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63240"/>
            <a:ext cx="73152" cy="155448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00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32278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2588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seasonal demand swings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7764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surge / Q2 cliff suggests inventory bunching. Shift incentives and lease cycles to fill April–July; reduce discount stacking in February.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25880" y="43251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&lt;3× peak-to-trough ratio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063240"/>
            <a:ext cx="73152" cy="155448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200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40880" y="32278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088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the luxury margin pool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37764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BMW, Mercedes, Lexus deliver 55% higher ASP. Expand certified pre-owned and finance attach for premium buyers.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0" y="43251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Premium = 25% of revenue mix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754880"/>
            <a:ext cx="73152" cy="155448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892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325880" y="4919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SIMPLIFY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25880" y="5120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Rationalize the body-style catalogue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25880" y="546811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 + SUV = 70% of volume. Reduce SKU complexity in low-velocity bodies (Wagon, Coupe); reallocate floor space and ad spend.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325880" y="60167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-20% slow-moving inventory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475488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4754880"/>
            <a:ext cx="73152" cy="155448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4892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040880" y="4919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40880" y="5120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taxonomy &amp; enrich the dataset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40880" y="546811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"Sedan" vs "sedan" duplicates split reporting. Clean make/body labels and add margin, financing and trade-in fields for sharper insight.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040880" y="60167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100% normalized records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BrightCars Analytics  ·  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manufacturers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51713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REVENUE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 PRICE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93,553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$1.36B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$15K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Chevrolet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60,197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$721.0M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$12K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Nissan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53,946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$633.3M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$12K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39,871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$488.4M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$12K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20,719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$444.3M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$21K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Mercedes-Benz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17,141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$370.1M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$22K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30,708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$344.1M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$11K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15,305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$312.5M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$20K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27,206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$297.6M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$11K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11,861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$240.6M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$20K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Hyundai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21,811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$240.2M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$11K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15,372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$230.6M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$15K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BrightCars Analytics  ·  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Microsoft Macintosh PowerPoint</Application>
  <PresentationFormat>Widescreen</PresentationFormat>
  <Paragraphs>173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BrightCars Sales Intelligence</dc:title>
  <dc:subject>PptxGenJS Presentation</dc:subject>
  <dc:creator>PptxGenJS</dc:creator>
  <cp:lastModifiedBy>Simangaliso Kenoshi</cp:lastModifiedBy>
  <cp:revision>1</cp:revision>
  <dcterms:created xsi:type="dcterms:W3CDTF">2026-04-29T17:28:40Z</dcterms:created>
  <dcterms:modified xsi:type="dcterms:W3CDTF">2026-04-29T17:33:10Z</dcterms:modified>
</cp:coreProperties>
</file>